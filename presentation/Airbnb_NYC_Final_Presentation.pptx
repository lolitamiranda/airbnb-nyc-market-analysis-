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sldIdLst>
    <p:sldId id="283" r:id="rId5"/>
    <p:sldId id="284" r:id="rId6"/>
    <p:sldId id="258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8" r:id="rId29"/>
    <p:sldId id="307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69"/>
  </p:normalViewPr>
  <p:slideViewPr>
    <p:cSldViewPr>
      <p:cViewPr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625E3C-CCDF-40F2-B95D-D705E683F028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BC7A336C-7E97-4406-9264-91DEFF8BB73E}">
      <dgm:prSet/>
      <dgm:spPr/>
      <dgm:t>
        <a:bodyPr/>
        <a:lstStyle/>
        <a:p>
          <a:pPr algn="ctr" rtl="0"/>
          <a:r>
            <a:rPr lang="en-US" b="1" i="1" dirty="0"/>
            <a:t>Exploratory Analysis and Visualizations of </a:t>
          </a:r>
          <a:r>
            <a:rPr lang="en-US" b="1" i="1" dirty="0" err="1"/>
            <a:t>Airbnb</a:t>
          </a:r>
          <a:r>
            <a:rPr lang="en-US" b="1" i="1" dirty="0"/>
            <a:t> Listings in New York City</a:t>
          </a:r>
          <a:endParaRPr lang="en-US" dirty="0"/>
        </a:p>
      </dgm:t>
    </dgm:pt>
    <dgm:pt modelId="{47404921-6DC4-4F7E-B224-683002427E8C}" type="parTrans" cxnId="{44116902-2506-46C0-9345-49F4867B3A75}">
      <dgm:prSet/>
      <dgm:spPr/>
      <dgm:t>
        <a:bodyPr/>
        <a:lstStyle/>
        <a:p>
          <a:endParaRPr lang="en-US"/>
        </a:p>
      </dgm:t>
    </dgm:pt>
    <dgm:pt modelId="{1A094CAB-6D42-4BD6-86C9-28295CC6C0EC}" type="sibTrans" cxnId="{44116902-2506-46C0-9345-49F4867B3A75}">
      <dgm:prSet/>
      <dgm:spPr/>
      <dgm:t>
        <a:bodyPr/>
        <a:lstStyle/>
        <a:p>
          <a:endParaRPr lang="en-US"/>
        </a:p>
      </dgm:t>
    </dgm:pt>
    <dgm:pt modelId="{567E0634-B3A5-4556-8273-F1C20E594392}" type="pres">
      <dgm:prSet presAssocID="{9E625E3C-CCDF-40F2-B95D-D705E683F02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9C7A36C-4E5E-45C8-AD78-78895E8556BD}" type="pres">
      <dgm:prSet presAssocID="{BC7A336C-7E97-4406-9264-91DEFF8BB73E}" presName="parentText" presStyleLbl="node1" presStyleIdx="0" presStyleCnt="1" custLinFactNeighborY="620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D221503-5A3B-46B4-BAD2-D064FDC3DA9D}" type="presOf" srcId="{9E625E3C-CCDF-40F2-B95D-D705E683F028}" destId="{567E0634-B3A5-4556-8273-F1C20E594392}" srcOrd="0" destOrd="0" presId="urn:microsoft.com/office/officeart/2005/8/layout/vList2"/>
    <dgm:cxn modelId="{17A88190-372D-460B-9D1F-339A435D021C}" type="presOf" srcId="{BC7A336C-7E97-4406-9264-91DEFF8BB73E}" destId="{59C7A36C-4E5E-45C8-AD78-78895E8556BD}" srcOrd="0" destOrd="0" presId="urn:microsoft.com/office/officeart/2005/8/layout/vList2"/>
    <dgm:cxn modelId="{44116902-2506-46C0-9345-49F4867B3A75}" srcId="{9E625E3C-CCDF-40F2-B95D-D705E683F028}" destId="{BC7A336C-7E97-4406-9264-91DEFF8BB73E}" srcOrd="0" destOrd="0" parTransId="{47404921-6DC4-4F7E-B224-683002427E8C}" sibTransId="{1A094CAB-6D42-4BD6-86C9-28295CC6C0EC}"/>
    <dgm:cxn modelId="{ECE38DF6-6035-410B-8BD5-282C0AAF67FC}" type="presParOf" srcId="{567E0634-B3A5-4556-8273-F1C20E594392}" destId="{59C7A36C-4E5E-45C8-AD78-78895E8556B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b="1" dirty="0"/>
            <a:t>Data Analytics – Final Project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 custLinFactNeighborX="-7400" custLinFactNeighborY="-3750"/>
      <dgm:spPr/>
      <dgm:t>
        <a:bodyPr/>
        <a:lstStyle/>
        <a:p>
          <a:endParaRPr lang="en-US"/>
        </a:p>
      </dgm:t>
    </dgm:pt>
  </dgm:ptLst>
  <dgm:cxnLst>
    <dgm:cxn modelId="{6796CFC5-A78F-4AB3-A2E1-B66F0991187F}" type="presOf" srcId="{365B89DE-D9D3-4B9A-9FF1-004F0D1D8CE4}" destId="{69D6E33B-975C-4B59-BE3D-EF0894B76EDF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956FD436-4B00-47D7-8A0D-E86DCAA5AAAB}" type="presOf" srcId="{76FE5ED6-E238-4D9A-A2EF-D5CC368C6280}" destId="{9019CE83-1A97-4170-8CCA-E0B485B9B23E}" srcOrd="0" destOrd="0" presId="urn:microsoft.com/office/officeart/2005/8/layout/lProcess3"/>
    <dgm:cxn modelId="{4B5DE121-FEC5-4C5A-B61A-75B5EAC7F32B}" type="presParOf" srcId="{9019CE83-1A97-4170-8CCA-E0B485B9B23E}" destId="{34AC8F1C-46ED-4172-8D3E-6EF239D7D1FF}" srcOrd="0" destOrd="0" presId="urn:microsoft.com/office/officeart/2005/8/layout/lProcess3"/>
    <dgm:cxn modelId="{F0BA9648-24E8-454F-B55B-4E1516EE6616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Team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118F5D6D-EEEF-4A93-B695-B2DDA97A0DCE}" type="presOf" srcId="{76FE5ED6-E238-4D9A-A2EF-D5CC368C6280}" destId="{9019CE83-1A97-4170-8CCA-E0B485B9B23E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D8B6609B-E0FF-428B-89E5-206BD83A2E10}" type="presOf" srcId="{365B89DE-D9D3-4B9A-9FF1-004F0D1D8CE4}" destId="{69D6E33B-975C-4B59-BE3D-EF0894B76EDF}" srcOrd="0" destOrd="0" presId="urn:microsoft.com/office/officeart/2005/8/layout/lProcess3"/>
    <dgm:cxn modelId="{BC7F0FC0-205A-484F-A319-DC5F1E9C358D}" type="presParOf" srcId="{9019CE83-1A97-4170-8CCA-E0B485B9B23E}" destId="{34AC8F1C-46ED-4172-8D3E-6EF239D7D1FF}" srcOrd="0" destOrd="0" presId="urn:microsoft.com/office/officeart/2005/8/layout/lProcess3"/>
    <dgm:cxn modelId="{92C428CF-1EAC-44E2-9563-088B2330C888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Introduction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552D5A8C-E488-4BC0-916A-981FF0EFE4AC}" type="presOf" srcId="{76FE5ED6-E238-4D9A-A2EF-D5CC368C6280}" destId="{9019CE83-1A97-4170-8CCA-E0B485B9B23E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42C88E77-F37C-4113-BC95-DAF736CC3151}" type="presOf" srcId="{365B89DE-D9D3-4B9A-9FF1-004F0D1D8CE4}" destId="{69D6E33B-975C-4B59-BE3D-EF0894B76EDF}" srcOrd="0" destOrd="0" presId="urn:microsoft.com/office/officeart/2005/8/layout/lProcess3"/>
    <dgm:cxn modelId="{C85E4007-BC22-4BE4-9048-11EAA1CD6E58}" type="presParOf" srcId="{9019CE83-1A97-4170-8CCA-E0B485B9B23E}" destId="{34AC8F1C-46ED-4172-8D3E-6EF239D7D1FF}" srcOrd="0" destOrd="0" presId="urn:microsoft.com/office/officeart/2005/8/layout/lProcess3"/>
    <dgm:cxn modelId="{8B418FC0-DF63-481A-97CE-C2B977AE6C86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Objective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D416FC14-3A65-489B-82A0-019564A8ADF0}" type="presOf" srcId="{76FE5ED6-E238-4D9A-A2EF-D5CC368C6280}" destId="{9019CE83-1A97-4170-8CCA-E0B485B9B23E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C74033BD-B045-45AA-9481-7FDFBAB6781F}" type="presOf" srcId="{365B89DE-D9D3-4B9A-9FF1-004F0D1D8CE4}" destId="{69D6E33B-975C-4B59-BE3D-EF0894B76EDF}" srcOrd="0" destOrd="0" presId="urn:microsoft.com/office/officeart/2005/8/layout/lProcess3"/>
    <dgm:cxn modelId="{2B3D4596-D110-4FF1-BF5E-25555DDBA3B3}" type="presParOf" srcId="{9019CE83-1A97-4170-8CCA-E0B485B9B23E}" destId="{34AC8F1C-46ED-4172-8D3E-6EF239D7D1FF}" srcOrd="0" destOrd="0" presId="urn:microsoft.com/office/officeart/2005/8/layout/lProcess3"/>
    <dgm:cxn modelId="{0044EBA3-B108-4675-8CF7-265570CADAA3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Analysis Conducted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105F83FE-23B3-4C64-B22F-339960639727}" type="presOf" srcId="{365B89DE-D9D3-4B9A-9FF1-004F0D1D8CE4}" destId="{69D6E33B-975C-4B59-BE3D-EF0894B76EDF}" srcOrd="0" destOrd="0" presId="urn:microsoft.com/office/officeart/2005/8/layout/lProcess3"/>
    <dgm:cxn modelId="{F2E83AD1-1F7D-4740-8E52-4C4A2CD87A6B}" type="presOf" srcId="{76FE5ED6-E238-4D9A-A2EF-D5CC368C6280}" destId="{9019CE83-1A97-4170-8CCA-E0B485B9B23E}" srcOrd="0" destOrd="0" presId="urn:microsoft.com/office/officeart/2005/8/layout/lProcess3"/>
    <dgm:cxn modelId="{16F55D7F-8BD9-4077-B38E-3B32AB377ACF}" type="presParOf" srcId="{9019CE83-1A97-4170-8CCA-E0B485B9B23E}" destId="{34AC8F1C-46ED-4172-8D3E-6EF239D7D1FF}" srcOrd="0" destOrd="0" presId="urn:microsoft.com/office/officeart/2005/8/layout/lProcess3"/>
    <dgm:cxn modelId="{6FC7BA12-C214-4C9C-B2E0-4893524BA4CD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Descriptive Statistics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B033FB0D-E290-4514-AA0E-6D1B4E9D8147}" type="presOf" srcId="{365B89DE-D9D3-4B9A-9FF1-004F0D1D8CE4}" destId="{69D6E33B-975C-4B59-BE3D-EF0894B76EDF}" srcOrd="0" destOrd="0" presId="urn:microsoft.com/office/officeart/2005/8/layout/lProcess3"/>
    <dgm:cxn modelId="{4483F510-9E66-4188-A119-78971D9B37DE}" type="presOf" srcId="{76FE5ED6-E238-4D9A-A2EF-D5CC368C6280}" destId="{9019CE83-1A97-4170-8CCA-E0B485B9B23E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15DF894C-272B-4A7E-A4DC-56DEFD0940E9}" type="presParOf" srcId="{9019CE83-1A97-4170-8CCA-E0B485B9B23E}" destId="{34AC8F1C-46ED-4172-8D3E-6EF239D7D1FF}" srcOrd="0" destOrd="0" presId="urn:microsoft.com/office/officeart/2005/8/layout/lProcess3"/>
    <dgm:cxn modelId="{CAF4C9EE-4563-401F-95C7-3C9F316A98E8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Descriptive Statistics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EEBBAD57-CA0E-4DD6-B470-4057BCC7C026}" type="presOf" srcId="{365B89DE-D9D3-4B9A-9FF1-004F0D1D8CE4}" destId="{69D6E33B-975C-4B59-BE3D-EF0894B76EDF}" srcOrd="0" destOrd="0" presId="urn:microsoft.com/office/officeart/2005/8/layout/lProcess3"/>
    <dgm:cxn modelId="{F4E44683-F528-4D72-AC47-A2C52B16778C}" type="presOf" srcId="{76FE5ED6-E238-4D9A-A2EF-D5CC368C6280}" destId="{9019CE83-1A97-4170-8CCA-E0B485B9B23E}" srcOrd="0" destOrd="0" presId="urn:microsoft.com/office/officeart/2005/8/layout/lProcess3"/>
    <dgm:cxn modelId="{B6C3E5C7-BB19-42B0-8F0E-182DCEF4D47D}" type="presParOf" srcId="{9019CE83-1A97-4170-8CCA-E0B485B9B23E}" destId="{34AC8F1C-46ED-4172-8D3E-6EF239D7D1FF}" srcOrd="0" destOrd="0" presId="urn:microsoft.com/office/officeart/2005/8/layout/lProcess3"/>
    <dgm:cxn modelId="{FCE44CC1-0E82-44AC-BDDB-D48D14E95CCA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Descriptive Statistics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94686DA1-FF52-449A-B821-59FE9DEEF455}" type="presOf" srcId="{365B89DE-D9D3-4B9A-9FF1-004F0D1D8CE4}" destId="{69D6E33B-975C-4B59-BE3D-EF0894B76EDF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70BE35B0-C476-4389-BAEB-50C42B52F173}" type="presOf" srcId="{76FE5ED6-E238-4D9A-A2EF-D5CC368C6280}" destId="{9019CE83-1A97-4170-8CCA-E0B485B9B23E}" srcOrd="0" destOrd="0" presId="urn:microsoft.com/office/officeart/2005/8/layout/lProcess3"/>
    <dgm:cxn modelId="{DD5D3CED-68B7-4EB3-B1E8-E9F53A8CAFF8}" type="presParOf" srcId="{9019CE83-1A97-4170-8CCA-E0B485B9B23E}" destId="{34AC8F1C-46ED-4172-8D3E-6EF239D7D1FF}" srcOrd="0" destOrd="0" presId="urn:microsoft.com/office/officeart/2005/8/layout/lProcess3"/>
    <dgm:cxn modelId="{92B2DAC0-5AE9-45CA-B57E-8B061E61E7DB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Price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459FC5D7-0D19-4B7B-A82D-A12E0104ECE1}" type="presOf" srcId="{76FE5ED6-E238-4D9A-A2EF-D5CC368C6280}" destId="{9019CE83-1A97-4170-8CCA-E0B485B9B23E}" srcOrd="0" destOrd="0" presId="urn:microsoft.com/office/officeart/2005/8/layout/lProcess3"/>
    <dgm:cxn modelId="{0231EDCC-6B1F-4B95-80C3-EBD5A9AF635F}" type="presOf" srcId="{365B89DE-D9D3-4B9A-9FF1-004F0D1D8CE4}" destId="{69D6E33B-975C-4B59-BE3D-EF0894B76EDF}" srcOrd="0" destOrd="0" presId="urn:microsoft.com/office/officeart/2005/8/layout/lProcess3"/>
    <dgm:cxn modelId="{BF686FB2-7E36-4512-93B6-8CD2BA445035}" type="presParOf" srcId="{9019CE83-1A97-4170-8CCA-E0B485B9B23E}" destId="{34AC8F1C-46ED-4172-8D3E-6EF239D7D1FF}" srcOrd="0" destOrd="0" presId="urn:microsoft.com/office/officeart/2005/8/layout/lProcess3"/>
    <dgm:cxn modelId="{EADE65AA-3ADD-4E01-9F43-9F950E5EF413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Price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8B16CD3E-3A82-4ECF-9619-4DB6DA20F47E}" type="presOf" srcId="{76FE5ED6-E238-4D9A-A2EF-D5CC368C6280}" destId="{9019CE83-1A97-4170-8CCA-E0B485B9B23E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E071A30F-BF71-4750-AB2E-C1424CADD740}" type="presOf" srcId="{365B89DE-D9D3-4B9A-9FF1-004F0D1D8CE4}" destId="{69D6E33B-975C-4B59-BE3D-EF0894B76EDF}" srcOrd="0" destOrd="0" presId="urn:microsoft.com/office/officeart/2005/8/layout/lProcess3"/>
    <dgm:cxn modelId="{CAA91F49-18B1-46A0-A2EA-1AEA005DE33D}" type="presParOf" srcId="{9019CE83-1A97-4170-8CCA-E0B485B9B23E}" destId="{34AC8F1C-46ED-4172-8D3E-6EF239D7D1FF}" srcOrd="0" destOrd="0" presId="urn:microsoft.com/office/officeart/2005/8/layout/lProcess3"/>
    <dgm:cxn modelId="{0A924482-A46C-4A16-AE6A-0CEA97AA1080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Host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EFB158B0-FC28-4C24-9C0F-05A56D3C1C83}" type="presOf" srcId="{76FE5ED6-E238-4D9A-A2EF-D5CC368C6280}" destId="{9019CE83-1A97-4170-8CCA-E0B485B9B23E}" srcOrd="0" destOrd="0" presId="urn:microsoft.com/office/officeart/2005/8/layout/lProcess3"/>
    <dgm:cxn modelId="{87F2B49A-CC2D-4012-BC98-8E9FFB97FF85}" type="presOf" srcId="{365B89DE-D9D3-4B9A-9FF1-004F0D1D8CE4}" destId="{69D6E33B-975C-4B59-BE3D-EF0894B76EDF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D52E0B08-D74F-4F58-956D-53F990ADDDB2}" type="presParOf" srcId="{9019CE83-1A97-4170-8CCA-E0B485B9B23E}" destId="{34AC8F1C-46ED-4172-8D3E-6EF239D7D1FF}" srcOrd="0" destOrd="0" presId="urn:microsoft.com/office/officeart/2005/8/layout/lProcess3"/>
    <dgm:cxn modelId="{5FF2ACC5-D95A-4C34-B4E1-19CE43D78036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Host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1B292ADF-FB99-4315-8027-F31FF182D985}" type="presOf" srcId="{76FE5ED6-E238-4D9A-A2EF-D5CC368C6280}" destId="{9019CE83-1A97-4170-8CCA-E0B485B9B23E}" srcOrd="0" destOrd="0" presId="urn:microsoft.com/office/officeart/2005/8/layout/lProcess3"/>
    <dgm:cxn modelId="{3249CF4F-7238-4275-B443-E1E17612B892}" type="presOf" srcId="{365B89DE-D9D3-4B9A-9FF1-004F0D1D8CE4}" destId="{69D6E33B-975C-4B59-BE3D-EF0894B76EDF}" srcOrd="0" destOrd="0" presId="urn:microsoft.com/office/officeart/2005/8/layout/lProcess3"/>
    <dgm:cxn modelId="{087A6FB4-3270-4073-8040-FA0305F192C6}" type="presParOf" srcId="{9019CE83-1A97-4170-8CCA-E0B485B9B23E}" destId="{34AC8F1C-46ED-4172-8D3E-6EF239D7D1FF}" srcOrd="0" destOrd="0" presId="urn:microsoft.com/office/officeart/2005/8/layout/lProcess3"/>
    <dgm:cxn modelId="{D8BE4637-DF5C-4D02-9C66-B9E517BA23A7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Host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BBC7CB68-543F-4965-98D9-F55C00D622A8}" type="presOf" srcId="{365B89DE-D9D3-4B9A-9FF1-004F0D1D8CE4}" destId="{69D6E33B-975C-4B59-BE3D-EF0894B76EDF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5632D5B1-72E2-45A5-A24B-79C131D2BF22}" type="presOf" srcId="{76FE5ED6-E238-4D9A-A2EF-D5CC368C6280}" destId="{9019CE83-1A97-4170-8CCA-E0B485B9B23E}" srcOrd="0" destOrd="0" presId="urn:microsoft.com/office/officeart/2005/8/layout/lProcess3"/>
    <dgm:cxn modelId="{F38FB7AD-AE1A-4505-9F56-B8FF9AFA84C0}" type="presParOf" srcId="{9019CE83-1A97-4170-8CCA-E0B485B9B23E}" destId="{34AC8F1C-46ED-4172-8D3E-6EF239D7D1FF}" srcOrd="0" destOrd="0" presId="urn:microsoft.com/office/officeart/2005/8/layout/lProcess3"/>
    <dgm:cxn modelId="{0571526F-4C43-447F-ACD3-50C70458367B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Room Type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26FBCCA8-7CFB-460C-8D46-6DEE4A0E2DE0}" type="presOf" srcId="{365B89DE-D9D3-4B9A-9FF1-004F0D1D8CE4}" destId="{69D6E33B-975C-4B59-BE3D-EF0894B76EDF}" srcOrd="0" destOrd="0" presId="urn:microsoft.com/office/officeart/2005/8/layout/lProcess3"/>
    <dgm:cxn modelId="{2DA959E2-1307-479C-AB17-6D7608B39275}" type="presOf" srcId="{76FE5ED6-E238-4D9A-A2EF-D5CC368C6280}" destId="{9019CE83-1A97-4170-8CCA-E0B485B9B23E}" srcOrd="0" destOrd="0" presId="urn:microsoft.com/office/officeart/2005/8/layout/lProcess3"/>
    <dgm:cxn modelId="{F5A57876-BBFF-4C84-B490-F07F6659488D}" type="presParOf" srcId="{9019CE83-1A97-4170-8CCA-E0B485B9B23E}" destId="{34AC8F1C-46ED-4172-8D3E-6EF239D7D1FF}" srcOrd="0" destOrd="0" presId="urn:microsoft.com/office/officeart/2005/8/layout/lProcess3"/>
    <dgm:cxn modelId="{0C2B0EC7-2286-400C-AA5C-3E77E387E286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Room Type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D94F65AD-FFC6-4136-8609-E4245BCA9D53}" type="presOf" srcId="{365B89DE-D9D3-4B9A-9FF1-004F0D1D8CE4}" destId="{69D6E33B-975C-4B59-BE3D-EF0894B76EDF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A4884A09-3598-451F-8260-E6AA2E8471DD}" type="presOf" srcId="{76FE5ED6-E238-4D9A-A2EF-D5CC368C6280}" destId="{9019CE83-1A97-4170-8CCA-E0B485B9B23E}" srcOrd="0" destOrd="0" presId="urn:microsoft.com/office/officeart/2005/8/layout/lProcess3"/>
    <dgm:cxn modelId="{71513922-DEC8-4F83-9D25-F110DE423A27}" type="presParOf" srcId="{9019CE83-1A97-4170-8CCA-E0B485B9B23E}" destId="{34AC8F1C-46ED-4172-8D3E-6EF239D7D1FF}" srcOrd="0" destOrd="0" presId="urn:microsoft.com/office/officeart/2005/8/layout/lProcess3"/>
    <dgm:cxn modelId="{D2F1DD24-7F9C-4EB5-8C79-C2EDB4C3CF82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 custT="1"/>
      <dgm:spPr/>
      <dgm:t>
        <a:bodyPr/>
        <a:lstStyle/>
        <a:p>
          <a:pPr rtl="0"/>
          <a:r>
            <a:rPr lang="en-US" sz="2600" dirty="0"/>
            <a:t>Location-based Trends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441905"/>
      <dgm:spPr/>
      <dgm:t>
        <a:bodyPr/>
        <a:lstStyle/>
        <a:p>
          <a:endParaRPr lang="en-US"/>
        </a:p>
      </dgm:t>
    </dgm:pt>
  </dgm:ptLst>
  <dgm:cxnLst>
    <dgm:cxn modelId="{49CECF29-768F-4C84-8314-B5393A7FF8F9}" type="presOf" srcId="{365B89DE-D9D3-4B9A-9FF1-004F0D1D8CE4}" destId="{69D6E33B-975C-4B59-BE3D-EF0894B76EDF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3B9DA68A-C3C2-46D8-9930-DB932CAE89AF}" type="presOf" srcId="{76FE5ED6-E238-4D9A-A2EF-D5CC368C6280}" destId="{9019CE83-1A97-4170-8CCA-E0B485B9B23E}" srcOrd="0" destOrd="0" presId="urn:microsoft.com/office/officeart/2005/8/layout/lProcess3"/>
    <dgm:cxn modelId="{FD76B7BC-9DE4-4AF0-AB9F-377722CB3F85}" type="presParOf" srcId="{9019CE83-1A97-4170-8CCA-E0B485B9B23E}" destId="{34AC8F1C-46ED-4172-8D3E-6EF239D7D1FF}" srcOrd="0" destOrd="0" presId="urn:microsoft.com/office/officeart/2005/8/layout/lProcess3"/>
    <dgm:cxn modelId="{0B357F74-8354-4934-A893-C2A8532E8653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 custT="1"/>
      <dgm:spPr/>
      <dgm:t>
        <a:bodyPr/>
        <a:lstStyle/>
        <a:p>
          <a:pPr rtl="0"/>
          <a:r>
            <a:rPr lang="en-US" sz="2600" dirty="0"/>
            <a:t>Location-based Trends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441905"/>
      <dgm:spPr/>
      <dgm:t>
        <a:bodyPr/>
        <a:lstStyle/>
        <a:p>
          <a:endParaRPr lang="en-US"/>
        </a:p>
      </dgm:t>
    </dgm:pt>
  </dgm:ptLst>
  <dgm:cxnLst>
    <dgm:cxn modelId="{57A14165-FBCC-45E8-BE7D-87060FAD76C7}" type="presOf" srcId="{76FE5ED6-E238-4D9A-A2EF-D5CC368C6280}" destId="{9019CE83-1A97-4170-8CCA-E0B485B9B23E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F32ED80A-0CDC-43C3-865E-24D872F80111}" type="presOf" srcId="{365B89DE-D9D3-4B9A-9FF1-004F0D1D8CE4}" destId="{69D6E33B-975C-4B59-BE3D-EF0894B76EDF}" srcOrd="0" destOrd="0" presId="urn:microsoft.com/office/officeart/2005/8/layout/lProcess3"/>
    <dgm:cxn modelId="{1585E351-6BC7-41C0-A4C7-A6518EE276F8}" type="presParOf" srcId="{9019CE83-1A97-4170-8CCA-E0B485B9B23E}" destId="{34AC8F1C-46ED-4172-8D3E-6EF239D7D1FF}" srcOrd="0" destOrd="0" presId="urn:microsoft.com/office/officeart/2005/8/layout/lProcess3"/>
    <dgm:cxn modelId="{9BE3F9DC-6244-4DC9-9E0B-154D9D87E388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Reviews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C32DB393-AA89-4248-8139-5E19AD4B01DA}" type="presOf" srcId="{365B89DE-D9D3-4B9A-9FF1-004F0D1D8CE4}" destId="{69D6E33B-975C-4B59-BE3D-EF0894B76EDF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B4C12BE0-74E0-46C9-85BC-CD150069997F}" type="presOf" srcId="{76FE5ED6-E238-4D9A-A2EF-D5CC368C6280}" destId="{9019CE83-1A97-4170-8CCA-E0B485B9B23E}" srcOrd="0" destOrd="0" presId="urn:microsoft.com/office/officeart/2005/8/layout/lProcess3"/>
    <dgm:cxn modelId="{A7A63A10-B97E-4B5B-B486-1A513B69991F}" type="presParOf" srcId="{9019CE83-1A97-4170-8CCA-E0B485B9B23E}" destId="{34AC8F1C-46ED-4172-8D3E-6EF239D7D1FF}" srcOrd="0" destOrd="0" presId="urn:microsoft.com/office/officeart/2005/8/layout/lProcess3"/>
    <dgm:cxn modelId="{364946BC-CF88-46EE-B348-AEFC862040E2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Reviews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C1364AD3-B1D3-4677-BCEC-197051B52371}" type="presOf" srcId="{76FE5ED6-E238-4D9A-A2EF-D5CC368C6280}" destId="{9019CE83-1A97-4170-8CCA-E0B485B9B23E}" srcOrd="0" destOrd="0" presId="urn:microsoft.com/office/officeart/2005/8/layout/lProcess3"/>
    <dgm:cxn modelId="{971D65B7-6ECE-40B1-8BCC-16529A87553B}" type="presOf" srcId="{365B89DE-D9D3-4B9A-9FF1-004F0D1D8CE4}" destId="{69D6E33B-975C-4B59-BE3D-EF0894B76EDF}" srcOrd="0" destOrd="0" presId="urn:microsoft.com/office/officeart/2005/8/layout/lProcess3"/>
    <dgm:cxn modelId="{4915C135-0325-4D08-9F88-5DEF863BBF02}" type="presParOf" srcId="{9019CE83-1A97-4170-8CCA-E0B485B9B23E}" destId="{34AC8F1C-46ED-4172-8D3E-6EF239D7D1FF}" srcOrd="0" destOrd="0" presId="urn:microsoft.com/office/officeart/2005/8/layout/lProcess3"/>
    <dgm:cxn modelId="{C07FE347-40F9-4923-8509-00464665537A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Spatial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8D017DD0-2EE1-43CF-9E81-45C89570BD36}" type="presOf" srcId="{365B89DE-D9D3-4B9A-9FF1-004F0D1D8CE4}" destId="{69D6E33B-975C-4B59-BE3D-EF0894B76EDF}" srcOrd="0" destOrd="0" presId="urn:microsoft.com/office/officeart/2005/8/layout/lProcess3"/>
    <dgm:cxn modelId="{7ED09387-2077-4F4C-A83C-0E23DA782278}" type="presOf" srcId="{76FE5ED6-E238-4D9A-A2EF-D5CC368C6280}" destId="{9019CE83-1A97-4170-8CCA-E0B485B9B23E}" srcOrd="0" destOrd="0" presId="urn:microsoft.com/office/officeart/2005/8/layout/lProcess3"/>
    <dgm:cxn modelId="{7D02E4E7-D1A9-4073-B54F-9B83A5C7D929}" type="presParOf" srcId="{9019CE83-1A97-4170-8CCA-E0B485B9B23E}" destId="{34AC8F1C-46ED-4172-8D3E-6EF239D7D1FF}" srcOrd="0" destOrd="0" presId="urn:microsoft.com/office/officeart/2005/8/layout/lProcess3"/>
    <dgm:cxn modelId="{A35915CE-DEFB-490F-A205-9FE01B6199A9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Spatial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7ADFD369-38B4-46E1-ACFB-552F51800E09}" type="presOf" srcId="{76FE5ED6-E238-4D9A-A2EF-D5CC368C6280}" destId="{9019CE83-1A97-4170-8CCA-E0B485B9B23E}" srcOrd="0" destOrd="0" presId="urn:microsoft.com/office/officeart/2005/8/layout/lProcess3"/>
    <dgm:cxn modelId="{47F46FDC-BC0C-4627-9297-A9125424079E}" type="presOf" srcId="{365B89DE-D9D3-4B9A-9FF1-004F0D1D8CE4}" destId="{69D6E33B-975C-4B59-BE3D-EF0894B76EDF}" srcOrd="0" destOrd="0" presId="urn:microsoft.com/office/officeart/2005/8/layout/lProcess3"/>
    <dgm:cxn modelId="{EC97C170-B7F2-4328-97C7-117E9C812CC8}" type="presParOf" srcId="{9019CE83-1A97-4170-8CCA-E0B485B9B23E}" destId="{34AC8F1C-46ED-4172-8D3E-6EF239D7D1FF}" srcOrd="0" destOrd="0" presId="urn:microsoft.com/office/officeart/2005/8/layout/lProcess3"/>
    <dgm:cxn modelId="{3CD5BE29-E623-4B2B-A3A9-9C2FC014EC30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Spatial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90D230E9-3A74-4F5D-B4F6-C6A84B1CC5CA}" type="presOf" srcId="{76FE5ED6-E238-4D9A-A2EF-D5CC368C6280}" destId="{9019CE83-1A97-4170-8CCA-E0B485B9B23E}" srcOrd="0" destOrd="0" presId="urn:microsoft.com/office/officeart/2005/8/layout/lProcess3"/>
    <dgm:cxn modelId="{32C99361-B642-4C35-B4AE-E9BDFF42208D}" type="presOf" srcId="{365B89DE-D9D3-4B9A-9FF1-004F0D1D8CE4}" destId="{69D6E33B-975C-4B59-BE3D-EF0894B76EDF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5DB3368A-FACD-4BC6-AE95-38621BF2E16C}" type="presParOf" srcId="{9019CE83-1A97-4170-8CCA-E0B485B9B23E}" destId="{34AC8F1C-46ED-4172-8D3E-6EF239D7D1FF}" srcOrd="0" destOrd="0" presId="urn:microsoft.com/office/officeart/2005/8/layout/lProcess3"/>
    <dgm:cxn modelId="{8D811B58-8C0F-42D2-8AFD-853E11C9A74E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Correlation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713E1E16-FD16-4444-B1D0-64D83C8B4F84}" type="presOf" srcId="{76FE5ED6-E238-4D9A-A2EF-D5CC368C6280}" destId="{9019CE83-1A97-4170-8CCA-E0B485B9B23E}" srcOrd="0" destOrd="0" presId="urn:microsoft.com/office/officeart/2005/8/layout/lProcess3"/>
    <dgm:cxn modelId="{5B2CCCA2-0689-4C04-BFBD-B3D45C9B8921}" type="presOf" srcId="{365B89DE-D9D3-4B9A-9FF1-004F0D1D8CE4}" destId="{69D6E33B-975C-4B59-BE3D-EF0894B76EDF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852923F9-4362-4FD1-8CD7-1112664745E5}" type="presParOf" srcId="{9019CE83-1A97-4170-8CCA-E0B485B9B23E}" destId="{34AC8F1C-46ED-4172-8D3E-6EF239D7D1FF}" srcOrd="0" destOrd="0" presId="urn:microsoft.com/office/officeart/2005/8/layout/lProcess3"/>
    <dgm:cxn modelId="{E5EA6BA1-48E3-4976-A1AF-05984D0050E4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Correlation Analysis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38DE197B-E252-4B1D-B31C-F40F1B8A35E0}" type="presOf" srcId="{76FE5ED6-E238-4D9A-A2EF-D5CC368C6280}" destId="{9019CE83-1A97-4170-8CCA-E0B485B9B23E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9CFDA4B0-D182-4800-80C9-98B7E20BF0E2}" type="presOf" srcId="{365B89DE-D9D3-4B9A-9FF1-004F0D1D8CE4}" destId="{69D6E33B-975C-4B59-BE3D-EF0894B76EDF}" srcOrd="0" destOrd="0" presId="urn:microsoft.com/office/officeart/2005/8/layout/lProcess3"/>
    <dgm:cxn modelId="{C73AE318-F439-4FDB-B915-13A6389C2BE6}" type="presParOf" srcId="{9019CE83-1A97-4170-8CCA-E0B485B9B23E}" destId="{34AC8F1C-46ED-4172-8D3E-6EF239D7D1FF}" srcOrd="0" destOrd="0" presId="urn:microsoft.com/office/officeart/2005/8/layout/lProcess3"/>
    <dgm:cxn modelId="{A16D4AF4-7C6A-40EC-8DA8-F907F7E45C56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/>
      <dgm:spPr/>
      <dgm:t>
        <a:bodyPr/>
        <a:lstStyle/>
        <a:p>
          <a:pPr rtl="0"/>
          <a:r>
            <a:rPr lang="en-US" dirty="0"/>
            <a:t>Conclusion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325596"/>
      <dgm:spPr/>
      <dgm:t>
        <a:bodyPr/>
        <a:lstStyle/>
        <a:p>
          <a:endParaRPr lang="en-US"/>
        </a:p>
      </dgm:t>
    </dgm:pt>
  </dgm:ptLst>
  <dgm:cxnLst>
    <dgm:cxn modelId="{44E2CF22-7542-4ADF-88F2-6542BE012BF0}" type="presOf" srcId="{76FE5ED6-E238-4D9A-A2EF-D5CC368C6280}" destId="{9019CE83-1A97-4170-8CCA-E0B485B9B23E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D1E20BD1-6AAD-4A91-9B49-2D5E4A5F0A99}" type="presOf" srcId="{365B89DE-D9D3-4B9A-9FF1-004F0D1D8CE4}" destId="{69D6E33B-975C-4B59-BE3D-EF0894B76EDF}" srcOrd="0" destOrd="0" presId="urn:microsoft.com/office/officeart/2005/8/layout/lProcess3"/>
    <dgm:cxn modelId="{14328E04-584C-4E5E-BF66-D575B8C45447}" type="presParOf" srcId="{9019CE83-1A97-4170-8CCA-E0B485B9B23E}" destId="{34AC8F1C-46ED-4172-8D3E-6EF239D7D1FF}" srcOrd="0" destOrd="0" presId="urn:microsoft.com/office/officeart/2005/8/layout/lProcess3"/>
    <dgm:cxn modelId="{55456B95-C6FC-4650-89EC-52B86B438CFE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76FE5ED6-E238-4D9A-A2EF-D5CC368C628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5B89DE-D9D3-4B9A-9FF1-004F0D1D8CE4}">
      <dgm:prSet custT="1"/>
      <dgm:spPr/>
      <dgm:t>
        <a:bodyPr/>
        <a:lstStyle/>
        <a:p>
          <a:pPr rtl="0"/>
          <a:r>
            <a:rPr lang="en-US" sz="7200" dirty="0"/>
            <a:t>Thank you</a:t>
          </a:r>
        </a:p>
      </dgm:t>
    </dgm:pt>
    <dgm:pt modelId="{12818367-9AD4-4834-8EFA-A9A3E78BC459}" type="parTrans" cxnId="{84D1C698-5371-4441-9263-054986856E7C}">
      <dgm:prSet/>
      <dgm:spPr/>
      <dgm:t>
        <a:bodyPr/>
        <a:lstStyle/>
        <a:p>
          <a:endParaRPr lang="en-US"/>
        </a:p>
      </dgm:t>
    </dgm:pt>
    <dgm:pt modelId="{658F89F6-A314-43FD-A5F4-9DFDF5B18A42}" type="sibTrans" cxnId="{84D1C698-5371-4441-9263-054986856E7C}">
      <dgm:prSet/>
      <dgm:spPr/>
      <dgm:t>
        <a:bodyPr/>
        <a:lstStyle/>
        <a:p>
          <a:endParaRPr lang="en-US"/>
        </a:p>
      </dgm:t>
    </dgm:pt>
    <dgm:pt modelId="{9019CE83-1A97-4170-8CCA-E0B485B9B23E}" type="pres">
      <dgm:prSet presAssocID="{76FE5ED6-E238-4D9A-A2EF-D5CC368C6280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4AC8F1C-46ED-4172-8D3E-6EF239D7D1FF}" type="pres">
      <dgm:prSet presAssocID="{365B89DE-D9D3-4B9A-9FF1-004F0D1D8CE4}" presName="horFlow" presStyleCnt="0"/>
      <dgm:spPr/>
    </dgm:pt>
    <dgm:pt modelId="{69D6E33B-975C-4B59-BE3D-EF0894B76EDF}" type="pres">
      <dgm:prSet presAssocID="{365B89DE-D9D3-4B9A-9FF1-004F0D1D8CE4}" presName="bigChev" presStyleLbl="node1" presStyleIdx="0" presStyleCnt="1" custScaleX="549799" custScaleY="271505" custLinFactNeighborX="47208" custLinFactNeighborY="-183"/>
      <dgm:spPr/>
      <dgm:t>
        <a:bodyPr/>
        <a:lstStyle/>
        <a:p>
          <a:endParaRPr lang="en-US"/>
        </a:p>
      </dgm:t>
    </dgm:pt>
  </dgm:ptLst>
  <dgm:cxnLst>
    <dgm:cxn modelId="{553E5DD9-EBA3-4821-B408-6EEA621790BA}" type="presOf" srcId="{76FE5ED6-E238-4D9A-A2EF-D5CC368C6280}" destId="{9019CE83-1A97-4170-8CCA-E0B485B9B23E}" srcOrd="0" destOrd="0" presId="urn:microsoft.com/office/officeart/2005/8/layout/lProcess3"/>
    <dgm:cxn modelId="{84D1C698-5371-4441-9263-054986856E7C}" srcId="{76FE5ED6-E238-4D9A-A2EF-D5CC368C6280}" destId="{365B89DE-D9D3-4B9A-9FF1-004F0D1D8CE4}" srcOrd="0" destOrd="0" parTransId="{12818367-9AD4-4834-8EFA-A9A3E78BC459}" sibTransId="{658F89F6-A314-43FD-A5F4-9DFDF5B18A42}"/>
    <dgm:cxn modelId="{B15C0459-BD49-4677-931F-3EB3A14AB256}" type="presOf" srcId="{365B89DE-D9D3-4B9A-9FF1-004F0D1D8CE4}" destId="{69D6E33B-975C-4B59-BE3D-EF0894B76EDF}" srcOrd="0" destOrd="0" presId="urn:microsoft.com/office/officeart/2005/8/layout/lProcess3"/>
    <dgm:cxn modelId="{D7003F47-8E63-4DD6-A74B-6C6430CCBED7}" type="presParOf" srcId="{9019CE83-1A97-4170-8CCA-E0B485B9B23E}" destId="{34AC8F1C-46ED-4172-8D3E-6EF239D7D1FF}" srcOrd="0" destOrd="0" presId="urn:microsoft.com/office/officeart/2005/8/layout/lProcess3"/>
    <dgm:cxn modelId="{16121996-BD73-4A27-93F8-8443C1298EE4}" type="presParOf" srcId="{34AC8F1C-46ED-4172-8D3E-6EF239D7D1FF}" destId="{69D6E33B-975C-4B59-BE3D-EF0894B76E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7A36C-4E5E-45C8-AD78-78895E8556BD}">
      <dsp:nvSpPr>
        <dsp:cNvPr id="0" name=""/>
        <dsp:cNvSpPr/>
      </dsp:nvSpPr>
      <dsp:spPr>
        <a:xfrm>
          <a:off x="0" y="21162"/>
          <a:ext cx="7696200" cy="9945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i="1" kern="1200" dirty="0"/>
            <a:t>Exploratory Analysis and Visualizations of </a:t>
          </a:r>
          <a:r>
            <a:rPr lang="en-US" sz="2500" b="1" i="1" kern="1200" dirty="0" err="1"/>
            <a:t>Airbnb</a:t>
          </a:r>
          <a:r>
            <a:rPr lang="en-US" sz="2500" b="1" i="1" kern="1200" dirty="0"/>
            <a:t> Listings in New York City</a:t>
          </a:r>
          <a:endParaRPr lang="en-US" sz="2500" kern="1200" dirty="0"/>
        </a:p>
      </dsp:txBody>
      <dsp:txXfrm>
        <a:off x="48547" y="69709"/>
        <a:ext cx="7599106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0" y="40273"/>
          <a:ext cx="3428998" cy="42125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/>
            <a:t>Data Analytics – Final Project</a:t>
          </a:r>
        </a:p>
      </dsp:txBody>
      <dsp:txXfrm>
        <a:off x="210629" y="40273"/>
        <a:ext cx="3007740" cy="4212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0" y="55"/>
          <a:ext cx="3255954" cy="399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Team</a:t>
          </a:r>
        </a:p>
      </dsp:txBody>
      <dsp:txXfrm>
        <a:off x="200000" y="55"/>
        <a:ext cx="2855955" cy="3999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0" y="55"/>
          <a:ext cx="3255954" cy="399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Introduction</a:t>
          </a:r>
        </a:p>
      </dsp:txBody>
      <dsp:txXfrm>
        <a:off x="200000" y="55"/>
        <a:ext cx="2855955" cy="3999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0" y="55"/>
          <a:ext cx="3255954" cy="399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Objective</a:t>
          </a:r>
        </a:p>
      </dsp:txBody>
      <dsp:txXfrm>
        <a:off x="200000" y="55"/>
        <a:ext cx="2855955" cy="3999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0" y="55"/>
          <a:ext cx="3255954" cy="399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Analysis Conducted</a:t>
          </a:r>
        </a:p>
      </dsp:txBody>
      <dsp:txXfrm>
        <a:off x="200000" y="55"/>
        <a:ext cx="2855955" cy="3999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Descriptive Statistics</a:t>
          </a:r>
        </a:p>
      </dsp:txBody>
      <dsp:txXfrm>
        <a:off x="287138" y="141"/>
        <a:ext cx="2854723" cy="3998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Descriptive Statistics</a:t>
          </a:r>
        </a:p>
      </dsp:txBody>
      <dsp:txXfrm>
        <a:off x="287138" y="141"/>
        <a:ext cx="2854723" cy="39982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Descriptive Statistics</a:t>
          </a:r>
        </a:p>
      </dsp:txBody>
      <dsp:txXfrm>
        <a:off x="287138" y="141"/>
        <a:ext cx="2854723" cy="39982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Price Analysis</a:t>
          </a:r>
        </a:p>
      </dsp:txBody>
      <dsp:txXfrm>
        <a:off x="287138" y="141"/>
        <a:ext cx="2854723" cy="39982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Price Analysis</a:t>
          </a:r>
        </a:p>
      </dsp:txBody>
      <dsp:txXfrm>
        <a:off x="287138" y="141"/>
        <a:ext cx="2854723" cy="39982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Host Analysis</a:t>
          </a:r>
        </a:p>
      </dsp:txBody>
      <dsp:txXfrm>
        <a:off x="287138" y="141"/>
        <a:ext cx="2854723" cy="39982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Host Analysis</a:t>
          </a:r>
        </a:p>
      </dsp:txBody>
      <dsp:txXfrm>
        <a:off x="287138" y="141"/>
        <a:ext cx="2854723" cy="39982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Host Analysis</a:t>
          </a:r>
        </a:p>
      </dsp:txBody>
      <dsp:txXfrm>
        <a:off x="287138" y="141"/>
        <a:ext cx="2854723" cy="39982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Room Type Analysis</a:t>
          </a:r>
        </a:p>
      </dsp:txBody>
      <dsp:txXfrm>
        <a:off x="287138" y="141"/>
        <a:ext cx="2854723" cy="39982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Room Type Analysis</a:t>
          </a:r>
        </a:p>
      </dsp:txBody>
      <dsp:txXfrm>
        <a:off x="287138" y="141"/>
        <a:ext cx="2854723" cy="39982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2099" y="3668"/>
          <a:ext cx="4339201" cy="3927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Location-based Trends</a:t>
          </a:r>
        </a:p>
      </dsp:txBody>
      <dsp:txXfrm>
        <a:off x="198485" y="3668"/>
        <a:ext cx="3946429" cy="39277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2099" y="3668"/>
          <a:ext cx="4339201" cy="3927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Location-based Trends</a:t>
          </a:r>
        </a:p>
      </dsp:txBody>
      <dsp:txXfrm>
        <a:off x="198485" y="3668"/>
        <a:ext cx="3946429" cy="39277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Reviews Analysis</a:t>
          </a:r>
        </a:p>
      </dsp:txBody>
      <dsp:txXfrm>
        <a:off x="287138" y="141"/>
        <a:ext cx="2854723" cy="39982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Reviews Analysis</a:t>
          </a:r>
        </a:p>
      </dsp:txBody>
      <dsp:txXfrm>
        <a:off x="287138" y="141"/>
        <a:ext cx="2854723" cy="39982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Spatial Analysis</a:t>
          </a:r>
        </a:p>
      </dsp:txBody>
      <dsp:txXfrm>
        <a:off x="287138" y="141"/>
        <a:ext cx="2854723" cy="39982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Spatial Analysis</a:t>
          </a:r>
        </a:p>
      </dsp:txBody>
      <dsp:txXfrm>
        <a:off x="287138" y="141"/>
        <a:ext cx="2854723" cy="39982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Spatial Analysis</a:t>
          </a:r>
        </a:p>
      </dsp:txBody>
      <dsp:txXfrm>
        <a:off x="287138" y="141"/>
        <a:ext cx="2854723" cy="39982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Correlation Analysis</a:t>
          </a:r>
        </a:p>
      </dsp:txBody>
      <dsp:txXfrm>
        <a:off x="287138" y="141"/>
        <a:ext cx="2854723" cy="399826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Correlation Analysis</a:t>
          </a:r>
        </a:p>
      </dsp:txBody>
      <dsp:txXfrm>
        <a:off x="287138" y="141"/>
        <a:ext cx="2854723" cy="39982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7225" y="141"/>
          <a:ext cx="3254549" cy="39982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Conclusion</a:t>
          </a:r>
        </a:p>
      </dsp:txBody>
      <dsp:txXfrm>
        <a:off x="287138" y="141"/>
        <a:ext cx="2854723" cy="39982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6E33B-975C-4B59-BE3D-EF0894B76EDF}">
      <dsp:nvSpPr>
        <dsp:cNvPr id="0" name=""/>
        <dsp:cNvSpPr/>
      </dsp:nvSpPr>
      <dsp:spPr>
        <a:xfrm>
          <a:off x="8280" y="0"/>
          <a:ext cx="6163919" cy="121756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0" bIns="45720" numCol="1" spcCol="1270" anchor="ctr" anchorCtr="0">
          <a:noAutofit/>
        </a:bodyPr>
        <a:lstStyle/>
        <a:p>
          <a:pPr lvl="0" algn="ctr" defTabSz="3200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200" kern="1200" dirty="0"/>
            <a:t>Thank you</a:t>
          </a:r>
        </a:p>
      </dsp:txBody>
      <dsp:txXfrm>
        <a:off x="617061" y="0"/>
        <a:ext cx="4946358" cy="12175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3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4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5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6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7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8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9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10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11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12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13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14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7" Type="http://schemas.openxmlformats.org/officeDocument/2006/relationships/image" Target="../media/image15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16.pn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7" Type="http://schemas.openxmlformats.org/officeDocument/2006/relationships/image" Target="../media/image17.pn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18.pn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D:\Germany\Msc Subjects\Data Analytics\Final Project\NYC Airbnb\New_York_City_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695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797455811"/>
              </p:ext>
            </p:extLst>
          </p:nvPr>
        </p:nvGraphicFramePr>
        <p:xfrm>
          <a:off x="838200" y="2667000"/>
          <a:ext cx="7696200" cy="1015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50619656"/>
              </p:ext>
            </p:extLst>
          </p:nvPr>
        </p:nvGraphicFramePr>
        <p:xfrm>
          <a:off x="533400" y="381000"/>
          <a:ext cx="3429000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280609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2160"/>
            <a:ext cx="7772400" cy="3017040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ü"/>
            </a:pPr>
            <a:r>
              <a:rPr lang="en-US" sz="2400" dirty="0" err="1">
                <a:latin typeface="Bahnschrift" pitchFamily="34" charset="0"/>
              </a:rPr>
              <a:t>Bindu</a:t>
            </a:r>
            <a:r>
              <a:rPr lang="en-US" sz="2400" dirty="0">
                <a:latin typeface="Bahnschrift" pitchFamily="34" charset="0"/>
              </a:rPr>
              <a:t> </a:t>
            </a:r>
            <a:r>
              <a:rPr lang="en-US" sz="2400" dirty="0" err="1">
                <a:latin typeface="Bahnschrift" pitchFamily="34" charset="0"/>
              </a:rPr>
              <a:t>Naganapura</a:t>
            </a:r>
            <a:r>
              <a:rPr lang="en-US" sz="2400" dirty="0">
                <a:latin typeface="Bahnschrift" pitchFamily="34" charset="0"/>
              </a:rPr>
              <a:t> </a:t>
            </a:r>
            <a:r>
              <a:rPr lang="en-US" sz="2400" dirty="0" err="1">
                <a:latin typeface="Bahnschrift" pitchFamily="34" charset="0"/>
              </a:rPr>
              <a:t>Prabhuswamy</a:t>
            </a:r>
            <a:r>
              <a:rPr lang="en-US" sz="2400" dirty="0">
                <a:latin typeface="Bahnschrift" pitchFamily="34" charset="0"/>
              </a:rPr>
              <a:t> – 47883062</a:t>
            </a:r>
          </a:p>
          <a:p>
            <a:pPr lvl="0">
              <a:buFont typeface="Wingdings" pitchFamily="2" charset="2"/>
              <a:buChar char="ü"/>
            </a:pPr>
            <a:r>
              <a:rPr lang="en-US" sz="2400" dirty="0">
                <a:latin typeface="Bahnschrift" pitchFamily="34" charset="0"/>
              </a:rPr>
              <a:t>Lolita </a:t>
            </a:r>
            <a:r>
              <a:rPr lang="en-US" sz="2400" dirty="0" err="1">
                <a:latin typeface="Bahnschrift" pitchFamily="34" charset="0"/>
              </a:rPr>
              <a:t>Ancilla</a:t>
            </a:r>
            <a:r>
              <a:rPr lang="en-US" sz="2400" dirty="0">
                <a:latin typeface="Bahnschrift" pitchFamily="34" charset="0"/>
              </a:rPr>
              <a:t> Miranda - 94172214</a:t>
            </a:r>
          </a:p>
          <a:p>
            <a:pPr lvl="0">
              <a:buFont typeface="Wingdings" pitchFamily="2" charset="2"/>
              <a:buChar char="ü"/>
            </a:pPr>
            <a:r>
              <a:rPr lang="en-US" sz="2400" dirty="0" err="1">
                <a:latin typeface="Bahnschrift" pitchFamily="34" charset="0"/>
              </a:rPr>
              <a:t>Avin</a:t>
            </a:r>
            <a:r>
              <a:rPr lang="en-US" sz="2400" dirty="0">
                <a:latin typeface="Bahnschrift" pitchFamily="34" charset="0"/>
              </a:rPr>
              <a:t> </a:t>
            </a:r>
            <a:r>
              <a:rPr lang="en-US" sz="2400" dirty="0" err="1">
                <a:latin typeface="Bahnschrift" pitchFamily="34" charset="0"/>
              </a:rPr>
              <a:t>Joju</a:t>
            </a:r>
            <a:r>
              <a:rPr lang="en-US" sz="2400" dirty="0">
                <a:latin typeface="Bahnschrift" pitchFamily="34" charset="0"/>
              </a:rPr>
              <a:t> – 37270522</a:t>
            </a:r>
          </a:p>
          <a:p>
            <a:pPr lvl="0">
              <a:buFont typeface="Wingdings" pitchFamily="2" charset="2"/>
              <a:buChar char="ü"/>
            </a:pPr>
            <a:r>
              <a:rPr lang="en-US" sz="2400" dirty="0">
                <a:latin typeface="Bahnschrift" pitchFamily="34" charset="0"/>
              </a:rPr>
              <a:t>Leela Krishna Rakesh Kalidindi - 47133396</a:t>
            </a:r>
          </a:p>
          <a:p>
            <a:endParaRPr lang="en-US" sz="2400" dirty="0">
              <a:latin typeface="Bahnschrift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503084070"/>
              </p:ext>
            </p:extLst>
          </p:nvPr>
        </p:nvGraphicFramePr>
        <p:xfrm>
          <a:off x="762000" y="666690"/>
          <a:ext cx="325595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7144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7543800" cy="4419600"/>
          </a:xfrm>
        </p:spPr>
        <p:txBody>
          <a:bodyPr>
            <a:noAutofit/>
          </a:bodyPr>
          <a:lstStyle/>
          <a:p>
            <a:pPr algn="just"/>
            <a:r>
              <a:rPr lang="en-US" sz="2100" dirty="0" err="1">
                <a:latin typeface="Calibri" pitchFamily="34" charset="0"/>
                <a:cs typeface="Calibri" pitchFamily="34" charset="0"/>
              </a:rPr>
              <a:t>Airbnb</a:t>
            </a:r>
            <a:r>
              <a:rPr lang="en-US" sz="2100" dirty="0">
                <a:latin typeface="Calibri" pitchFamily="34" charset="0"/>
                <a:cs typeface="Calibri" pitchFamily="34" charset="0"/>
              </a:rPr>
              <a:t> is an online marketplace based in the United States of America and offers hospitality services by allowing house owners to rent their homes and customers to find easy accommodation.</a:t>
            </a:r>
          </a:p>
          <a:p>
            <a:pPr algn="just"/>
            <a:endParaRPr lang="en-US" sz="2100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sz="2100" dirty="0">
                <a:latin typeface="Calibri" pitchFamily="34" charset="0"/>
                <a:cs typeface="Calibri" pitchFamily="34" charset="0"/>
              </a:rPr>
              <a:t>New York City is the most popular area in the USA and several people visit the place for personal or commercial purposes.</a:t>
            </a:r>
          </a:p>
          <a:p>
            <a:pPr algn="just"/>
            <a:endParaRPr lang="en-GB" sz="2100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sz="2100" dirty="0">
                <a:latin typeface="Calibri" pitchFamily="34" charset="0"/>
                <a:cs typeface="Calibri" pitchFamily="34" charset="0"/>
              </a:rPr>
              <a:t>The current dataset includes </a:t>
            </a:r>
            <a:r>
              <a:rPr lang="en-GB" sz="2100" dirty="0" err="1">
                <a:latin typeface="Calibri" pitchFamily="34" charset="0"/>
                <a:cs typeface="Calibri" pitchFamily="34" charset="0"/>
              </a:rPr>
              <a:t>Airbnb</a:t>
            </a:r>
            <a:r>
              <a:rPr lang="en-GB" sz="2100" dirty="0">
                <a:latin typeface="Calibri" pitchFamily="34" charset="0"/>
                <a:cs typeface="Calibri" pitchFamily="34" charset="0"/>
              </a:rPr>
              <a:t> listings in 5 popular localities of the New </a:t>
            </a:r>
            <a:r>
              <a:rPr lang="en-GB" sz="2100">
                <a:latin typeface="Calibri" pitchFamily="34" charset="0"/>
                <a:cs typeface="Calibri" pitchFamily="34" charset="0"/>
              </a:rPr>
              <a:t>York </a:t>
            </a:r>
            <a:r>
              <a:rPr lang="en-GB" sz="2100" smtClean="0">
                <a:latin typeface="Calibri" pitchFamily="34" charset="0"/>
                <a:cs typeface="Calibri" pitchFamily="34" charset="0"/>
              </a:rPr>
              <a:t>City.</a:t>
            </a:r>
            <a:endParaRPr lang="en-GB" sz="2100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633671047"/>
              </p:ext>
            </p:extLst>
          </p:nvPr>
        </p:nvGraphicFramePr>
        <p:xfrm>
          <a:off x="685800" y="533400"/>
          <a:ext cx="325595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5958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7620000" cy="4419600"/>
          </a:xfrm>
        </p:spPr>
        <p:txBody>
          <a:bodyPr>
            <a:noAutofit/>
          </a:bodyPr>
          <a:lstStyle/>
          <a:p>
            <a:pPr algn="just"/>
            <a:r>
              <a:rPr lang="en-US" sz="2100" dirty="0">
                <a:latin typeface="Calibri" pitchFamily="34" charset="0"/>
                <a:cs typeface="Calibri" pitchFamily="34" charset="0"/>
              </a:rPr>
              <a:t>Exploratory analysis of New York City </a:t>
            </a:r>
            <a:r>
              <a:rPr lang="en-US" sz="2100" dirty="0" err="1">
                <a:latin typeface="Calibri" pitchFamily="34" charset="0"/>
                <a:cs typeface="Calibri" pitchFamily="34" charset="0"/>
              </a:rPr>
              <a:t>Airbnb</a:t>
            </a:r>
            <a:r>
              <a:rPr lang="en-US" sz="2100" dirty="0">
                <a:latin typeface="Calibri" pitchFamily="34" charset="0"/>
                <a:cs typeface="Calibri" pitchFamily="34" charset="0"/>
              </a:rPr>
              <a:t> listings helps in understanding the important aspects like the:</a:t>
            </a:r>
          </a:p>
          <a:p>
            <a:pPr lvl="1" algn="just"/>
            <a:r>
              <a:rPr lang="en-US" sz="2000" dirty="0">
                <a:latin typeface="Calibri" pitchFamily="34" charset="0"/>
                <a:cs typeface="Calibri" pitchFamily="34" charset="0"/>
              </a:rPr>
              <a:t>Most preferred room type by the customers</a:t>
            </a:r>
          </a:p>
          <a:p>
            <a:pPr lvl="1" algn="just"/>
            <a:r>
              <a:rPr lang="en-US" sz="2000" dirty="0">
                <a:latin typeface="Calibri" pitchFamily="34" charset="0"/>
                <a:cs typeface="Calibri" pitchFamily="34" charset="0"/>
              </a:rPr>
              <a:t>Most popular neighborhoods</a:t>
            </a:r>
          </a:p>
          <a:p>
            <a:pPr lvl="1" algn="just"/>
            <a:r>
              <a:rPr lang="en-US" sz="2000" dirty="0">
                <a:latin typeface="Calibri" pitchFamily="34" charset="0"/>
                <a:cs typeface="Calibri" pitchFamily="34" charset="0"/>
              </a:rPr>
              <a:t>Most affordable or expensive neighborhoods</a:t>
            </a:r>
          </a:p>
          <a:p>
            <a:pPr lvl="1" algn="just"/>
            <a:r>
              <a:rPr lang="en-US" sz="2000" dirty="0">
                <a:latin typeface="Calibri" pitchFamily="34" charset="0"/>
                <a:cs typeface="Calibri" pitchFamily="34" charset="0"/>
              </a:rPr>
              <a:t>Most reviewed room types and localities, and so on.</a:t>
            </a:r>
          </a:p>
          <a:p>
            <a:pPr algn="just"/>
            <a:endParaRPr lang="en-US" sz="1700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sz="2100" dirty="0">
                <a:latin typeface="Calibri" pitchFamily="34" charset="0"/>
                <a:cs typeface="Calibri" pitchFamily="34" charset="0"/>
              </a:rPr>
              <a:t>Understanding these metrics will help the company to customize the locations as per customer’s preference and home owners to make necessary changes to improve ratings and bookings.</a:t>
            </a:r>
          </a:p>
          <a:p>
            <a:pPr lvl="1" algn="just"/>
            <a:endParaRPr lang="en-GB" sz="1700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80628199"/>
              </p:ext>
            </p:extLst>
          </p:nvPr>
        </p:nvGraphicFramePr>
        <p:xfrm>
          <a:off x="685800" y="533400"/>
          <a:ext cx="325595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5010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7620000" cy="3657600"/>
          </a:xfrm>
        </p:spPr>
        <p:txBody>
          <a:bodyPr>
            <a:noAutofit/>
          </a:bodyPr>
          <a:lstStyle/>
          <a:p>
            <a:pPr algn="just"/>
            <a:r>
              <a:rPr lang="en-US" sz="2100" dirty="0">
                <a:latin typeface="Calibri" pitchFamily="34" charset="0"/>
                <a:cs typeface="Calibri" pitchFamily="34" charset="0"/>
              </a:rPr>
              <a:t>Descriptive Statistics</a:t>
            </a:r>
          </a:p>
          <a:p>
            <a:pPr algn="just"/>
            <a:r>
              <a:rPr lang="en-US" sz="2100" dirty="0">
                <a:latin typeface="Calibri" pitchFamily="34" charset="0"/>
                <a:cs typeface="Calibri" pitchFamily="34" charset="0"/>
              </a:rPr>
              <a:t>Price Analysis</a:t>
            </a:r>
          </a:p>
          <a:p>
            <a:pPr algn="just"/>
            <a:r>
              <a:rPr lang="en-US" sz="2100" dirty="0">
                <a:latin typeface="Calibri" pitchFamily="34" charset="0"/>
                <a:cs typeface="Calibri" pitchFamily="34" charset="0"/>
              </a:rPr>
              <a:t>Host Analysis</a:t>
            </a:r>
          </a:p>
          <a:p>
            <a:pPr algn="just"/>
            <a:r>
              <a:rPr lang="en-US" sz="2100" dirty="0">
                <a:latin typeface="Calibri" pitchFamily="34" charset="0"/>
                <a:cs typeface="Calibri" pitchFamily="34" charset="0"/>
              </a:rPr>
              <a:t>Room Type Analysis</a:t>
            </a:r>
          </a:p>
          <a:p>
            <a:pPr algn="just"/>
            <a:r>
              <a:rPr lang="en-US" sz="2100" dirty="0">
                <a:latin typeface="Calibri" pitchFamily="34" charset="0"/>
                <a:cs typeface="Calibri" pitchFamily="34" charset="0"/>
              </a:rPr>
              <a:t>City-based Trends</a:t>
            </a:r>
          </a:p>
          <a:p>
            <a:pPr algn="just"/>
            <a:r>
              <a:rPr lang="en-US" sz="2100" dirty="0">
                <a:latin typeface="Calibri" pitchFamily="34" charset="0"/>
                <a:cs typeface="Calibri" pitchFamily="34" charset="0"/>
              </a:rPr>
              <a:t>Reviews Analysis</a:t>
            </a:r>
          </a:p>
          <a:p>
            <a:pPr algn="just"/>
            <a:r>
              <a:rPr lang="en-US" sz="2100" dirty="0">
                <a:latin typeface="Calibri" pitchFamily="34" charset="0"/>
                <a:cs typeface="Calibri" pitchFamily="34" charset="0"/>
              </a:rPr>
              <a:t>Spatial Analysis and</a:t>
            </a:r>
          </a:p>
          <a:p>
            <a:pPr algn="just"/>
            <a:r>
              <a:rPr lang="en-US" sz="2100" dirty="0">
                <a:latin typeface="Calibri" pitchFamily="34" charset="0"/>
                <a:cs typeface="Calibri" pitchFamily="34" charset="0"/>
              </a:rPr>
              <a:t>Correlation Analysis</a:t>
            </a:r>
            <a:endParaRPr lang="en-GB" sz="2100" dirty="0">
              <a:latin typeface="Calibri" pitchFamily="34" charset="0"/>
              <a:cs typeface="Calibri" pitchFamily="34" charset="0"/>
            </a:endParaRPr>
          </a:p>
          <a:p>
            <a:pPr lvl="1" algn="just"/>
            <a:endParaRPr lang="en-GB" sz="1700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693240647"/>
              </p:ext>
            </p:extLst>
          </p:nvPr>
        </p:nvGraphicFramePr>
        <p:xfrm>
          <a:off x="685800" y="533400"/>
          <a:ext cx="325595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2145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085498190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8200" y="4419600"/>
            <a:ext cx="769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Mean price is higher than the median, indicating a right-skewed distribution.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Mode indicates that $100 is a commonly occurring price.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Substantial range of prices suggests a wide variability in accommodation costs.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Standard deviation is relatively high, confirming the variability in prices.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18256358-1A17-4664-28D6-27990F5B5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992256"/>
              </p:ext>
            </p:extLst>
          </p:nvPr>
        </p:nvGraphicFramePr>
        <p:xfrm>
          <a:off x="1752600" y="1295400"/>
          <a:ext cx="6096000" cy="2749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895">
                  <a:extLst>
                    <a:ext uri="{9D8B030D-6E8A-4147-A177-3AD203B41FA5}">
                      <a16:colId xmlns:a16="http://schemas.microsoft.com/office/drawing/2014/main" xmlns="" val="1200524866"/>
                    </a:ext>
                  </a:extLst>
                </a:gridCol>
                <a:gridCol w="3850105">
                  <a:extLst>
                    <a:ext uri="{9D8B030D-6E8A-4147-A177-3AD203B41FA5}">
                      <a16:colId xmlns:a16="http://schemas.microsoft.com/office/drawing/2014/main" xmlns="" val="1358658798"/>
                    </a:ext>
                  </a:extLst>
                </a:gridCol>
              </a:tblGrid>
              <a:tr h="541556">
                <a:tc>
                  <a:txBody>
                    <a:bodyPr/>
                    <a:lstStyle/>
                    <a:p>
                      <a:r>
                        <a:rPr lang="en-IN" dirty="0"/>
                        <a:t>Mean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152.7206871868289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9714238"/>
                  </a:ext>
                </a:extLst>
              </a:tr>
              <a:tr h="470733">
                <a:tc>
                  <a:txBody>
                    <a:bodyPr/>
                    <a:lstStyle/>
                    <a:p>
                      <a:r>
                        <a:rPr lang="en-IN" dirty="0"/>
                        <a:t>Median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41349747"/>
                  </a:ext>
                </a:extLst>
              </a:tr>
              <a:tr h="470733">
                <a:tc>
                  <a:txBody>
                    <a:bodyPr/>
                    <a:lstStyle/>
                    <a:p>
                      <a:r>
                        <a:rPr lang="en-IN" dirty="0"/>
                        <a:t>Mode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64257150"/>
                  </a:ext>
                </a:extLst>
              </a:tr>
              <a:tr h="470733">
                <a:tc>
                  <a:txBody>
                    <a:bodyPr/>
                    <a:lstStyle/>
                    <a:p>
                      <a:r>
                        <a:rPr lang="en-IN" dirty="0"/>
                        <a:t>Range of Prices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96773039"/>
                  </a:ext>
                </a:extLst>
              </a:tr>
              <a:tr h="795924">
                <a:tc>
                  <a:txBody>
                    <a:bodyPr/>
                    <a:lstStyle/>
                    <a:p>
                      <a:r>
                        <a:rPr lang="en-IN" dirty="0"/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240.15416974718758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88242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79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327119351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22434" y="1371600"/>
            <a:ext cx="794056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ANOVA TEST:</a:t>
            </a:r>
          </a:p>
          <a:p>
            <a:pPr algn="just"/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Test Values:</a:t>
            </a:r>
          </a:p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ANOVA F-statistic: 1716.63</a:t>
            </a:r>
          </a:p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P-value: 0.0</a:t>
            </a:r>
          </a:p>
          <a:p>
            <a:pPr algn="just"/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Results: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Statistically significant differences in mean prices among different room types. 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The F-statistic indicates a substantial difference in means, and the low p-value provides strong evidence against the idea that all room types have equal mean prices.</a:t>
            </a:r>
          </a:p>
          <a:p>
            <a:pPr algn="just"/>
            <a:endParaRPr lang="en-US" sz="20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014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93703572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22434" y="1371600"/>
            <a:ext cx="794056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T-TEST:</a:t>
            </a:r>
          </a:p>
          <a:p>
            <a:pPr algn="just"/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T-test to compare mean prices between Brooklyn and Manhattan.</a:t>
            </a:r>
          </a:p>
          <a:p>
            <a:pPr algn="just"/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Test Values:</a:t>
            </a:r>
          </a:p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T-statistic: -30.009360251152064</a:t>
            </a:r>
          </a:p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P-value: 8.973192961269122e-196</a:t>
            </a:r>
          </a:p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Degrees of Freedom (</a:t>
            </a:r>
            <a:r>
              <a:rPr lang="en-US" sz="2000" dirty="0" err="1">
                <a:latin typeface="Calibri" pitchFamily="34" charset="0"/>
                <a:cs typeface="Calibri" pitchFamily="34" charset="0"/>
              </a:rPr>
              <a:t>df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): 41763.0</a:t>
            </a:r>
          </a:p>
          <a:p>
            <a:pPr algn="just"/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Result: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Negative t-statistic indicates that, on average, prices in Brooklyn are significantly lower than prices in Manhattan.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Statistically significant difference in mean prices between Brooklyn and Manhattan, with Manhattan having higher average prices.</a:t>
            </a:r>
          </a:p>
          <a:p>
            <a:pPr algn="just"/>
            <a:endParaRPr lang="en-US" sz="20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722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058252410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22434" y="1219200"/>
            <a:ext cx="329236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Entire Home/Apartment: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Average price is above $200.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Relatively higher pricing.</a:t>
            </a:r>
          </a:p>
          <a:p>
            <a:pPr algn="just"/>
            <a:endParaRPr lang="en-US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Private Room: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Average price between $75 and $100.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A  middle-range option with the comfort of a private space in a larger residence.</a:t>
            </a:r>
          </a:p>
          <a:p>
            <a:pPr algn="just"/>
            <a:endParaRPr lang="en-US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Shared Room: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Average price between $50 and $75.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Budget-friendly pricing, and best option for travelers to reduce costs.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C5185E6-7385-EEB8-71AA-DD22AF2071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5107" y="1600201"/>
            <a:ext cx="4757800" cy="400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79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080750402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5800" y="4557648"/>
            <a:ext cx="80929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Across all room types, Manhattan tends to be more expensive.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Staten Island and the Bronx offer more budget-friendly options for both 'Private Rooms' and 'Entire Home/Apt.’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Brooklyn stands out as having the most affordable 'Shared Rooms' among the boroughs.</a:t>
            </a:r>
          </a:p>
        </p:txBody>
      </p:sp>
      <p:pic>
        <p:nvPicPr>
          <p:cNvPr id="6" name="Content Placeholder 3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xmlns="" id="{38DC11A3-9204-8855-CCCD-F69F2C94B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7"/>
          <a:srcRect t="5858"/>
          <a:stretch/>
        </p:blipFill>
        <p:spPr>
          <a:xfrm>
            <a:off x="801413" y="1119465"/>
            <a:ext cx="7732987" cy="336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88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145397619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5800" y="5029200"/>
            <a:ext cx="8092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Host analysis was conducted to understand the distribution of 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Airbnb</a:t>
            </a:r>
            <a:r>
              <a:rPr lang="en-US" dirty="0">
                <a:latin typeface="Calibri" pitchFamily="34" charset="0"/>
                <a:cs typeface="Calibri" pitchFamily="34" charset="0"/>
              </a:rPr>
              <a:t> hosts.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The histogram represents the distribution of hosts to identify prolific hosts based on the ‘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host_id</a:t>
            </a:r>
            <a:r>
              <a:rPr lang="en-US" dirty="0">
                <a:latin typeface="Calibri" pitchFamily="34" charset="0"/>
                <a:cs typeface="Calibri" pitchFamily="34" charset="0"/>
              </a:rPr>
              <a:t>’.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92D4260-B771-021F-7AF6-60A377E52E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883" y="1219200"/>
            <a:ext cx="7924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43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651149313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5800" y="5029200"/>
            <a:ext cx="80929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Scatter plot analysis was also conducted to understand the distribution of the listings throughout New York city.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Only a few hosts with prices around 10000, but with no reviews. Hosts with prices at a minimal price recorded a very high number of reviews.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A2016E3-1B0D-F615-2CB3-A5A1A724AF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1383" y="1143000"/>
            <a:ext cx="6781800" cy="368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82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458497597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5800" y="5029200"/>
            <a:ext cx="8092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The bar chart helps to understand the relation between hosts and their respective listings.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The listings of 10 hosts, which shows a minimum of 50 and maximum of over 300.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C269AA0-7B7E-C8B9-0DF4-B17AE4AFB3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677" y="1143000"/>
            <a:ext cx="7187212" cy="378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06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84191993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5800" y="5311914"/>
            <a:ext cx="8092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Calibri" pitchFamily="34" charset="0"/>
                <a:cs typeface="Calibri" pitchFamily="34" charset="0"/>
              </a:rPr>
              <a:t>Entire home/apartment room types accounted for more than half of the total listings, closely followed by private rooms.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5EBAE0F4-91E8-8660-67D2-112132FC31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5144" y="1157102"/>
            <a:ext cx="6808256" cy="388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348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122329961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5800" y="5311914"/>
            <a:ext cx="8092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Violin Plot visually compares listing prices among different room types, highlighting distinct patterns and potential outliers.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Entire home/Apt were comparatively costlier than the other two room types.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E3FD836-20B3-B41E-9789-D2864324DE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5183" y="1143000"/>
            <a:ext cx="6934200" cy="399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07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540340967"/>
              </p:ext>
            </p:extLst>
          </p:nvPr>
        </p:nvGraphicFramePr>
        <p:xfrm>
          <a:off x="685800" y="533400"/>
          <a:ext cx="43434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5800" y="4876800"/>
            <a:ext cx="809296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1700" dirty="0">
                <a:latin typeface="Calibri" pitchFamily="34" charset="0"/>
                <a:cs typeface="Calibri" pitchFamily="34" charset="0"/>
              </a:rPr>
              <a:t>Guests preferred either Entire home/apt or private room in all the five neighborhoods.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sz="1700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700" dirty="0">
                <a:latin typeface="Calibri" pitchFamily="34" charset="0"/>
                <a:cs typeface="Calibri" pitchFamily="34" charset="0"/>
              </a:rPr>
              <a:t>In particular, people visiting Brooklyn and Manhattan preferred Entire home/Apt, while those visiting the remaining 3 areas preferred private rooms.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sz="1700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700" dirty="0">
                <a:latin typeface="Calibri" pitchFamily="34" charset="0"/>
                <a:cs typeface="Calibri" pitchFamily="34" charset="0"/>
              </a:rPr>
              <a:t>Shared rooms were the least in all five localities.</a:t>
            </a:r>
          </a:p>
        </p:txBody>
      </p:sp>
      <p:pic>
        <p:nvPicPr>
          <p:cNvPr id="4" name="Picture 3" descr="A graph of different types of groups&#10;&#10;Description automatically generated with medium confidence">
            <a:extLst>
              <a:ext uri="{FF2B5EF4-FFF2-40B4-BE49-F238E27FC236}">
                <a16:creationId xmlns:a16="http://schemas.microsoft.com/office/drawing/2014/main" xmlns="" id="{48CC0657-FCF4-57F8-93CD-CFAE851248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143000"/>
            <a:ext cx="6934200" cy="361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9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197314049"/>
              </p:ext>
            </p:extLst>
          </p:nvPr>
        </p:nvGraphicFramePr>
        <p:xfrm>
          <a:off x="685800" y="533400"/>
          <a:ext cx="43434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5800" y="4876800"/>
            <a:ext cx="80929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Staten Island had the highest number of rooms available in a year with an average of 205 days.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Brooklyn has the lowest availability in a year which is 105 days, closely followed by Manhattan. </a:t>
            </a:r>
          </a:p>
        </p:txBody>
      </p:sp>
      <p:pic>
        <p:nvPicPr>
          <p:cNvPr id="6" name="Content Placeholder 4" descr="A graph with blue lines&#10;&#10;Description automatically generated">
            <a:extLst>
              <a:ext uri="{FF2B5EF4-FFF2-40B4-BE49-F238E27FC236}">
                <a16:creationId xmlns:a16="http://schemas.microsoft.com/office/drawing/2014/main" xmlns="" id="{E7C69DD0-28BD-002A-BA38-F1AD210CF43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84" b="2"/>
          <a:stretch/>
        </p:blipFill>
        <p:spPr>
          <a:xfrm>
            <a:off x="1587730" y="1074007"/>
            <a:ext cx="6289105" cy="365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480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0270"/>
            <a:ext cx="80929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Brooklyn and Manhattan were  the highest reviewed neighborhood groups.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Staten Island registered the least reviews.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Higher reviews indicate higher customer satisfaction.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19830163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 graph of blue rectangular bars&#10;&#10;Description automatically generated with medium confidence">
            <a:extLst>
              <a:ext uri="{FF2B5EF4-FFF2-40B4-BE49-F238E27FC236}">
                <a16:creationId xmlns:a16="http://schemas.microsoft.com/office/drawing/2014/main" xmlns="" id="{12587AD3-A1EA-AC98-FF89-AB4AEFD59AD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2" b="-2"/>
          <a:stretch/>
        </p:blipFill>
        <p:spPr>
          <a:xfrm>
            <a:off x="1399689" y="1143000"/>
            <a:ext cx="6665187" cy="362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881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0270"/>
            <a:ext cx="80929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More number of guests preferred the entire home/apartment or private rooms.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Only a few number of guests preferred shared apartments. It can be because of privacy and security reasons.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9811671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Content Placeholder 4" descr="A graph of blue rectangular objects&#10;&#10;Description automatically generated with medium confidence">
            <a:extLst>
              <a:ext uri="{FF2B5EF4-FFF2-40B4-BE49-F238E27FC236}">
                <a16:creationId xmlns:a16="http://schemas.microsoft.com/office/drawing/2014/main" xmlns="" id="{3F384883-5A0F-32D3-7CE0-BA8BBB6EC12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9" b="2"/>
          <a:stretch/>
        </p:blipFill>
        <p:spPr>
          <a:xfrm>
            <a:off x="1544541" y="1219200"/>
            <a:ext cx="6375483" cy="353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191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0270"/>
            <a:ext cx="80929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Spatial analysis was conducted to understand the distribution of 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Airbnb</a:t>
            </a:r>
            <a:r>
              <a:rPr lang="en-US" dirty="0">
                <a:latin typeface="Calibri" pitchFamily="34" charset="0"/>
                <a:cs typeface="Calibri" pitchFamily="34" charset="0"/>
              </a:rPr>
              <a:t> listings throughout the city.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More options were available in the neighborhoods of Manhattan and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Queens</a:t>
            </a:r>
            <a:r>
              <a:rPr lang="en-US" dirty="0">
                <a:latin typeface="Calibri" pitchFamily="34" charset="0"/>
                <a:cs typeface="Calibri" pitchFamily="34" charset="0"/>
              </a:rPr>
              <a:t>, followed by Brooklyn.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514287950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38" y="1066799"/>
            <a:ext cx="7533290" cy="3689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8424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0270"/>
            <a:ext cx="8092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Manhattan - highest average of minimum nights spend in terms of all room  types.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Staten Island – lowest average in terms of the minimum nights spent in any room.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66259543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905" y="1143001"/>
            <a:ext cx="7092755" cy="3633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3626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0270"/>
            <a:ext cx="8092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Entire home/Apt and Private rooms were preferred in all the neighborhoods and the same was reflected in the reviews.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Manhattan has the highest and the Staten Island has lowest reviews.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427762858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783" y="1193236"/>
            <a:ext cx="7239000" cy="3562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0718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1" y="2351008"/>
            <a:ext cx="274319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700" dirty="0">
                <a:latin typeface="Calibri" pitchFamily="34" charset="0"/>
                <a:cs typeface="Calibri" pitchFamily="34" charset="0"/>
              </a:rPr>
              <a:t>Correlation analysis helps to understand relation between two variables in a dataset.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sz="1700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US" sz="1700" dirty="0">
                <a:latin typeface="Calibri" pitchFamily="34" charset="0"/>
                <a:cs typeface="Calibri" pitchFamily="34" charset="0"/>
              </a:rPr>
              <a:t>For instance, as per the data, minimum nights spent has a positive relation with the availability for the year.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sz="1700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endParaRPr lang="en-US" sz="1700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835250941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652" y="1390650"/>
            <a:ext cx="5600700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7720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850" y="5185827"/>
            <a:ext cx="8458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Minimum nights spent at any room is directly related to the pricing of the listing.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For instance, Bronx recorded more minimum nights spend compared to Manhattan as the pricing was comparatively lower in Bronx.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76000928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52" y="1130345"/>
            <a:ext cx="7262648" cy="3898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1975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1" y="1219200"/>
            <a:ext cx="7848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Based on the exploratory analysis, it was evident from the data that: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n-US" dirty="0">
                <a:latin typeface="Calibri" pitchFamily="34" charset="0"/>
                <a:cs typeface="Calibri" pitchFamily="34" charset="0"/>
              </a:rPr>
              <a:t>Manhattan and Brooklyn were the most preferred localities for visitors.</a:t>
            </a:r>
          </a:p>
          <a:p>
            <a:pPr marL="285750" indent="-285750" algn="just">
              <a:buFontTx/>
              <a:buChar char="-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n-US" dirty="0">
                <a:latin typeface="Calibri" pitchFamily="34" charset="0"/>
                <a:cs typeface="Calibri" pitchFamily="34" charset="0"/>
              </a:rPr>
              <a:t>Entire home/Apt or Private rooms were preferred by the majority of customers.</a:t>
            </a:r>
          </a:p>
          <a:p>
            <a:pPr marL="285750" indent="-285750" algn="just">
              <a:buFontTx/>
              <a:buChar char="-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n-US" dirty="0">
                <a:latin typeface="Calibri" pitchFamily="34" charset="0"/>
                <a:cs typeface="Calibri" pitchFamily="34" charset="0"/>
              </a:rPr>
              <a:t>People also considered budget-friendly options like Bronx for spending more nights.</a:t>
            </a:r>
          </a:p>
          <a:p>
            <a:pPr marL="285750" indent="-285750" algn="just">
              <a:buFontTx/>
              <a:buChar char="-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n-US" dirty="0">
                <a:latin typeface="Calibri" pitchFamily="34" charset="0"/>
                <a:cs typeface="Calibri" pitchFamily="34" charset="0"/>
              </a:rPr>
              <a:t>Manhattan has the most expensive listings and the Staten Island has the most affordable.</a:t>
            </a:r>
          </a:p>
          <a:p>
            <a:pPr marL="285750" indent="-285750" algn="just">
              <a:buFontTx/>
              <a:buChar char="-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n-US" dirty="0">
                <a:latin typeface="Calibri" pitchFamily="34" charset="0"/>
                <a:cs typeface="Calibri" pitchFamily="34" charset="0"/>
              </a:rPr>
              <a:t>Staten Island has the highest availability of rooms in a year, whereas Brooklyn has the lowest</a:t>
            </a:r>
          </a:p>
          <a:p>
            <a:pPr marL="285750" indent="-285750" algn="just">
              <a:buFontTx/>
              <a:buChar char="-"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n-US" dirty="0">
                <a:latin typeface="Calibri" pitchFamily="34" charset="0"/>
                <a:cs typeface="Calibri" pitchFamily="34" charset="0"/>
              </a:rPr>
              <a:t>Most reviews were given to the entire room/apt in Manhattan, and least for shared rooms in Staten Island.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100953222"/>
              </p:ext>
            </p:extLst>
          </p:nvPr>
        </p:nvGraphicFramePr>
        <p:xfrm>
          <a:off x="685800" y="533400"/>
          <a:ext cx="342900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540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281963179"/>
              </p:ext>
            </p:extLst>
          </p:nvPr>
        </p:nvGraphicFramePr>
        <p:xfrm>
          <a:off x="381000" y="2743200"/>
          <a:ext cx="6172200" cy="121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69572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de0e87e-ffc5-4bff-bc1e-61de7adfbf6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94317D52D2F4C4783730B82CCBAD747" ma:contentTypeVersion="13" ma:contentTypeDescription="Ein neues Dokument erstellen." ma:contentTypeScope="" ma:versionID="998e34bf4c80aad8c6f4ea7b9a36bf73">
  <xsd:schema xmlns:xsd="http://www.w3.org/2001/XMLSchema" xmlns:xs="http://www.w3.org/2001/XMLSchema" xmlns:p="http://schemas.microsoft.com/office/2006/metadata/properties" xmlns:ns3="ade0e87e-ffc5-4bff-bc1e-61de7adfbf6a" xmlns:ns4="beef44e4-1e4a-43eb-81ce-d64abbc2f70f" targetNamespace="http://schemas.microsoft.com/office/2006/metadata/properties" ma:root="true" ma:fieldsID="5a6e116b99028ed33211b4cba3eec71c" ns3:_="" ns4:_="">
    <xsd:import namespace="ade0e87e-ffc5-4bff-bc1e-61de7adfbf6a"/>
    <xsd:import namespace="beef44e4-1e4a-43eb-81ce-d64abbc2f70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e0e87e-ffc5-4bff-bc1e-61de7adfb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ef44e4-1e4a-43eb-81ce-d64abbc2f70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34C002-849B-4811-8B2F-87F4EAC6C1B7}">
  <ds:schemaRefs>
    <ds:schemaRef ds:uri="http://schemas.microsoft.com/office/2006/metadata/properties"/>
    <ds:schemaRef ds:uri="ade0e87e-ffc5-4bff-bc1e-61de7adfbf6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beef44e4-1e4a-43eb-81ce-d64abbc2f70f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8CE24A9-DE0C-49FD-9C05-8151673CC3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49D320-BEF4-4E5E-9729-20562D3744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e0e87e-ffc5-4bff-bc1e-61de7adfbf6a"/>
    <ds:schemaRef ds:uri="beef44e4-1e4a-43eb-81ce-d64abbc2f7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600</TotalTime>
  <Words>1106</Words>
  <Application>Microsoft Office PowerPoint</Application>
  <PresentationFormat>On-screen Show (4:3)</PresentationFormat>
  <Paragraphs>160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Metro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Swathi Rakesh</dc:creator>
  <cp:lastModifiedBy>ADMIN</cp:lastModifiedBy>
  <cp:revision>63</cp:revision>
  <dcterms:created xsi:type="dcterms:W3CDTF">2006-08-16T00:00:00Z</dcterms:created>
  <dcterms:modified xsi:type="dcterms:W3CDTF">2024-02-03T15:24:55Z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0x010100994317D52D2F4C4783730B82CCBAD747</vt:lpwstr>
  </property>
</Properties>
</file>